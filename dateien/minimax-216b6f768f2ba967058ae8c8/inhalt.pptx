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koeln/-/blob/00b3490fe4d04bbabf4b9ddf74a22ef4b0ac917e/_posts/2026-10-18-verglasungsformen-wintergarten-vergleich.md" TargetMode="External"/><Relationship Id="rId3" Type="http://schemas.openxmlformats.org/officeDocument/2006/relationships/hyperlink" Target="https://holzundhaus.github.io/wintergartenkoeln/dateien/minimax-216b6f768f2ba967058ae8c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Verglasungsformen für Wintergärten im Vergleich · Erklärende Präsentation</a:t>
            </a:r>
          </a:p>
        </p:txBody>
      </p:sp>
      <p:sp>
        <p:nvSpPr>
          <p:cNvPr id="3" name="Content Placeholder 2"/>
          <p:cNvSpPr>
            <a:spLocks noGrp="1"/>
          </p:cNvSpPr>
          <p:nvPr>
            <p:ph idx="1"/>
          </p:nvPr>
        </p:nvSpPr>
        <p:spPr/>
        <p:txBody>
          <a:bodyPr/>
          <a:lstStyle/>
          <a:p>
            <a:r>
              <a:t>Überblick: Die Wahl der Verglasung ist eine der grundlegendsten Entscheidungen bei der Wintergartenplanung. Sie bestimmt nicht nur die Optik, sondern beeinflusst maßgeblich Dämmwerte, Wartungsaufwand und langfristige Baukosten. Wer die Unterschiede zwischen den gängigen Verglasungsformen kennt, kann Missverständnisse im Planungsgespräch vermeiden undforgeforderungen realistisch einschätzen.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Profilglas – bewährt und wirtschaftlich</a:t>
            </a:r>
          </a:p>
        </p:txBody>
      </p:sp>
      <p:sp>
        <p:nvSpPr>
          <p:cNvPr id="3" name="Content Placeholder 2"/>
          <p:cNvSpPr>
            <a:spLocks noGrp="1"/>
          </p:cNvSpPr>
          <p:nvPr>
            <p:ph idx="1"/>
          </p:nvPr>
        </p:nvSpPr>
        <p:spPr/>
        <p:txBody>
          <a:bodyPr/>
          <a:lstStyle/>
          <a:p>
            <a:pPr>
              <a:defRPr sz="1800"/>
            </a:pPr>
            <a:r>
              <a:t>Profilglas besteht aus profilierten Glaselementen, die mit Klammern oder Klemmleisten in Aluminiumprofile eingesetzt werden. Die wellenförmige Struktur verleiht dem Material zusätzliche Stabilität, sodass größere Spannweiten ohne innere Unterstützung möglich sind. Diese Verglasungsform eignet sich besonders für Kaltwintergärten mit geringeren Dämmanforderungen, für Seitenflächen mit Industrie- oder Gewächshausoptik sowie für budgetorientierte Projekte mit unkompliziertem Wartungszugang. Der Nachteil liegt in der sichtbaren Unterteilung und der begrenzten Wärmedämmung: Für beheizte Wohnwintergärten ist Profilglas daher nur eingeschränkt geeign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Profilglas – bewährt und wirtschaftlich</a:t>
            </a:r>
          </a:p>
        </p:txBody>
      </p:sp>
      <p:sp>
        <p:nvSpPr>
          <p:cNvPr id="3" name="Content Placeholder 2"/>
          <p:cNvSpPr>
            <a:spLocks noGrp="1"/>
          </p:cNvSpPr>
          <p:nvPr>
            <p:ph idx="1"/>
          </p:nvPr>
        </p:nvSpPr>
        <p:spPr/>
        <p:txBody>
          <a:bodyPr/>
          <a:lstStyle/>
          <a:p>
            <a:pPr>
              <a:defRPr sz="1800"/>
            </a:pPr>
            <a:r>
              <a:t>et. Mehr zu diesem Thema bietet der Beitrag Verglasungsformen für Wintergärten im Vergleich auf wintergartenkoeln.online.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Elementverglasung – der häufigste Standard</a:t>
            </a:r>
          </a:p>
        </p:txBody>
      </p:sp>
      <p:sp>
        <p:nvSpPr>
          <p:cNvPr id="3" name="Content Placeholder 2"/>
          <p:cNvSpPr>
            <a:spLocks noGrp="1"/>
          </p:cNvSpPr>
          <p:nvPr>
            <p:ph idx="1"/>
          </p:nvPr>
        </p:nvSpPr>
        <p:spPr/>
        <p:txBody>
          <a:bodyPr/>
          <a:lstStyle/>
          <a:p>
            <a:pPr>
              <a:defRPr sz="1800"/>
            </a:pPr>
            <a:r>
              <a:t>Die Elementverglasung arbeitet mit rechteckigen Glaselementen, die in Rahmenprofile eingesetzt werden. In der Regel kommen Isolierglaspakete mit zwei oder drei Scheiben zum Einsatz, was deutlich bessere Dämmwerte ermöglicht als bei Profilglas. Große Formate erlauben nahezu ungeteilte Glasflächen, und verschiedene Glasaufbauten lassen sich für Dach und Seitenwände kombinieren. Die Rahmenprofile sind sichtbar und prägen die Optik, bieten dafür aber planbare Anschlüsse an Türen, Festfelder und Anschlussbauteile. Diese Konstruktionsform ist die am weitesten verbreitete Lösung für Wohnwintergärten mit Wärmedämmstandard.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Structural-Glazing – transparente Architektur</a:t>
            </a:r>
          </a:p>
        </p:txBody>
      </p:sp>
      <p:sp>
        <p:nvSpPr>
          <p:cNvPr id="3" name="Content Placeholder 2"/>
          <p:cNvSpPr>
            <a:spLocks noGrp="1"/>
          </p:cNvSpPr>
          <p:nvPr>
            <p:ph idx="1"/>
          </p:nvPr>
        </p:nvSpPr>
        <p:spPr/>
        <p:txBody>
          <a:bodyPr/>
          <a:lstStyle/>
          <a:p>
            <a:pPr>
              <a:defRPr sz="1800"/>
            </a:pPr>
            <a:r>
              <a:t>Beim Structural-Glazing werden Glasscheiben direkt mit der Unterkonstruktion verklebt oder über mechanische Klemmvorrichtungen gehalten, sodass sichtbare Rahmenprofile entfallen oder auf ein Minimum reduziert werden. Das Ergebnis ist eine maximale Transparenz mit nahezu rahmenloser Erscheinung, die homogene Fassadenflächen erzeugt. Wind- und Schlagregenschutz werden durch geklebte oder geklemmte Dichtungsebenen sichergestellt. Der konstruktive Aufwand ist erheblich: Die Unterkonstruktion muss formschlüssig geplant sein, Klebearbeiten erfordern zertifizierte Fachbetriebe, und die Zugänglichkeit für spätere Wartungen muss von Beginn an berücksi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Structural-Glazing – transparente Architektur</a:t>
            </a:r>
          </a:p>
        </p:txBody>
      </p:sp>
      <p:sp>
        <p:nvSpPr>
          <p:cNvPr id="3" name="Content Placeholder 2"/>
          <p:cNvSpPr>
            <a:spLocks noGrp="1"/>
          </p:cNvSpPr>
          <p:nvPr>
            <p:ph idx="1"/>
          </p:nvPr>
        </p:nvSpPr>
        <p:spPr/>
        <p:txBody>
          <a:bodyPr/>
          <a:lstStyle/>
          <a:p>
            <a:pPr>
              <a:defRPr sz="1800"/>
            </a:pPr>
            <a:r>
              <a:t>chtigt werden. Diese Lösung kommt daher vorwiegend bei gehobenen Architekturprojekten zum Einsatz.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Sicherheitsanforderungen je nach Einsatzort</a:t>
            </a:r>
          </a:p>
        </p:txBody>
      </p:sp>
      <p:sp>
        <p:nvSpPr>
          <p:cNvPr id="3" name="Content Placeholder 2"/>
          <p:cNvSpPr>
            <a:spLocks noGrp="1"/>
          </p:cNvSpPr>
          <p:nvPr>
            <p:ph idx="1"/>
          </p:nvPr>
        </p:nvSpPr>
        <p:spPr/>
        <p:txBody>
          <a:bodyPr/>
          <a:lstStyle/>
          <a:p>
            <a:pPr>
              <a:defRPr sz="1800"/>
            </a:pPr>
            <a:r>
              <a:t>Unabhängig von der gewählten Verglasungsform muss das Glas zum Einsatzort passen. Dachflächen erfordern in der Regel Einscheibensicherheitsglas oder Verbundsicherheitsglas, wobei die konkreten Vorschriften je nach Neigungswinkel und Absturzhöhe variieren. Seitenflächen im Erdgeschoss unterliegen anderen Anforderungen als bodentiefe Festverglasungen, die als Absturzsicherung dienen müssen. Für den Angebotsvergleich ist es daher wichtig, abzuklären, welcher Glasaufbau für jede Fläche geplant ist, welche Sicherheitsfunktion gefordert wird und wie Randverbund und Anschlüsse ausgeführt werden. Eine frühzeitige Abstimmung zwischen Verglasungsform,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Sicherheitsanforderungen je nach Einsatzort</a:t>
            </a:r>
          </a:p>
        </p:txBody>
      </p:sp>
      <p:sp>
        <p:nvSpPr>
          <p:cNvPr id="3" name="Content Placeholder 2"/>
          <p:cNvSpPr>
            <a:spLocks noGrp="1"/>
          </p:cNvSpPr>
          <p:nvPr>
            <p:ph idx="1"/>
          </p:nvPr>
        </p:nvSpPr>
        <p:spPr/>
        <p:txBody>
          <a:bodyPr/>
          <a:lstStyle/>
          <a:p>
            <a:pPr>
              <a:defRPr sz="1800"/>
            </a:pPr>
            <a:r>
              <a:t>Profilmaterial und Sicherheitskonzept spart spätere Kompromisse.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Verglasung finden</a:t>
            </a:r>
          </a:p>
        </p:txBody>
      </p:sp>
      <p:sp>
        <p:nvSpPr>
          <p:cNvPr id="3" name="Content Placeholder 2"/>
          <p:cNvSpPr>
            <a:spLocks noGrp="1"/>
          </p:cNvSpPr>
          <p:nvPr>
            <p:ph idx="1"/>
          </p:nvPr>
        </p:nvSpPr>
        <p:spPr/>
        <p:txBody>
          <a:bodyPr/>
          <a:lstStyle/>
          <a:p>
            <a:pPr>
              <a:defRPr sz="1800"/>
            </a:pPr>
            <a:r>
              <a:t>Die Entscheidung hängt von mehreren Faktoren ab: der geplanten Nutzung als Kalt- oder Warmwintergarten, der gewünschten Optik, dem zur Verfügung stehenden Budget und den baulichen Voraussetzungen am Aufstellort. Profilglas empfiehlt sich für einfache saisonale Räume, Elementverglasung für die meisten Wohnwintergärten mit normalen Dämmwerten und Structural-Glazing für architektonisch anspruchsvolle Vorhaben mit höherem Planungsaufwand. Wer sich unsicher ist, profitiert von einer fachlichen Erstberatung, bei der die individuellen Bedingungen vor Ort einbezogen werden. Weitere Planungshinweise für Wintergärten sind auf der Website von wintergart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Verglasung finden</a:t>
            </a:r>
          </a:p>
        </p:txBody>
      </p:sp>
      <p:sp>
        <p:nvSpPr>
          <p:cNvPr id="3" name="Content Placeholder 2"/>
          <p:cNvSpPr>
            <a:spLocks noGrp="1"/>
          </p:cNvSpPr>
          <p:nvPr>
            <p:ph idx="1"/>
          </p:nvPr>
        </p:nvSpPr>
        <p:spPr/>
        <p:txBody>
          <a:bodyPr/>
          <a:lstStyle/>
          <a:p>
            <a:pPr>
              <a:defRPr sz="1800"/>
            </a:pPr>
            <a:r>
              <a:t>enkoeln.online verfügbar.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Verglasungsformen für Wintergärten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