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gitlab.com/info4678/wintergartenkoeln/-/blob/9d1cb026d72792e58664c9842999d8de24ad7595/_posts/2026-10-23-solarenergie-wintergarten-photovoltaik.md" TargetMode="External"/><Relationship Id="rId3" Type="http://schemas.openxmlformats.org/officeDocument/2006/relationships/hyperlink" Target="https://holzundhaus.github.io/wintergartenkoeln/dateien/minimax-9f68f54ee664ec90bfb357b5/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Solarenergie im Wintergarten nutzen: Photovoltaik und solare Gewinne kombinieren · Erklärende Präsentation</a:t>
            </a:r>
          </a:p>
        </p:txBody>
      </p:sp>
      <p:sp>
        <p:nvSpPr>
          <p:cNvPr id="3" name="Content Placeholder 2"/>
          <p:cNvSpPr>
            <a:spLocks noGrp="1"/>
          </p:cNvSpPr>
          <p:nvPr>
            <p:ph idx="1"/>
          </p:nvPr>
        </p:nvSpPr>
        <p:spPr/>
        <p:txBody>
          <a:bodyPr/>
          <a:lstStyle/>
          <a:p>
            <a:r>
              <a:t>Überblick: Ein Wintergarten kann solaren Wärmegewinn und elektrische Energie miteinander verbinden. Die Verglasung nutzt Sonnenstrahlung für den Raum, während Photovoltaik daraus Strom gewinnt. Wer beide Systeme kombiniert, sollte jedoch die gegenseitige Beeinflussung frühzeitig berücksichtigen: Module auf dem Dach verschatten die Glasfläche und verändern damit Licht, Wärmeeintrag und Nutzbarkeit. Die wichtigste Grundlage ist deshalb eine abgestimmte Planung von Modulwahl, Anordnung, Beschattung und energetischer Bewertung.</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Photovoltaik auf dem Wintergartendach</a:t>
            </a:r>
          </a:p>
        </p:txBody>
      </p:sp>
      <p:sp>
        <p:nvSpPr>
          <p:cNvPr id="3" name="Content Placeholder 2"/>
          <p:cNvSpPr>
            <a:spLocks noGrp="1"/>
          </p:cNvSpPr>
          <p:nvPr>
            <p:ph idx="1"/>
          </p:nvPr>
        </p:nvSpPr>
        <p:spPr/>
        <p:txBody>
          <a:bodyPr/>
          <a:lstStyle/>
          <a:p>
            <a:pPr>
              <a:defRPr sz="1800"/>
            </a:pPr>
            <a:r>
              <a:t>Eine Aufdach-Photovoltaikanlage ist auf einem Wintergartendach technisch möglich. Die Module werden auf einer Unterkonstruktion über der vorhandenen Eindeckung befestigt. Dabei sind drei Punkte besonders wichtig: Die Dachneigung beeinflusst den Wirkungsgrad der Module, die zusätzliche Last muss von der Konstruktion getragen werden, und Verkabelung sowie ein möglicher Wechselrichter müssen in die Planung einfließen. Die Entscheidung für eine bestimmte Anordnung sollte daher nicht allein nach der gewünschten Stromerzeugung getroffen werden. Auch die Größe und Position der Module spielen eine Rolle, weil jede belegte Fläche den solaren Eintrag i</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Photovoltaik auf dem Wintergartendach</a:t>
            </a:r>
          </a:p>
        </p:txBody>
      </p:sp>
      <p:sp>
        <p:nvSpPr>
          <p:cNvPr id="3" name="Content Placeholder 2"/>
          <p:cNvSpPr>
            <a:spLocks noGrp="1"/>
          </p:cNvSpPr>
          <p:nvPr>
            <p:ph idx="1"/>
          </p:nvPr>
        </p:nvSpPr>
        <p:spPr/>
        <p:txBody>
          <a:bodyPr/>
          <a:lstStyle/>
          <a:p>
            <a:pPr>
              <a:defRPr sz="1800"/>
            </a:pPr>
            <a:r>
              <a:t>n den Wintergarten verändert.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Was die Verschattung für Wärme und Nutzung bedeutet</a:t>
            </a:r>
          </a:p>
        </p:txBody>
      </p:sp>
      <p:sp>
        <p:nvSpPr>
          <p:cNvPr id="3" name="Content Placeholder 2"/>
          <p:cNvSpPr>
            <a:spLocks noGrp="1"/>
          </p:cNvSpPr>
          <p:nvPr>
            <p:ph idx="1"/>
          </p:nvPr>
        </p:nvSpPr>
        <p:spPr/>
        <p:txBody>
          <a:bodyPr/>
          <a:lstStyle/>
          <a:p>
            <a:pPr>
              <a:defRPr sz="1800"/>
            </a:pPr>
            <a:r>
              <a:t>Photovoltaikmodule auf dem Dach beschatten die darunterliegende Glasfläche. Dadurch sinkt der solare Wärmegewinn im Wintergarten, während gleichzeitig weniger Strahlung in den Raum gelangt. Das kann im Sommer die kühlende Wirkung der Verglasung verringern, wenn die beschattete Fläche ohnehin zur Temperatureinfluss beiträgt. Eine sorgfältig geplante Modulanordnung kann den verbleibenden Lichteinfall und Wärmeeintrag besser verteilen, ersetzt aber nicht vollständig den Effekt eines unbeschatteten Glasdachs. Für die tägliche Nutzung des Raums ist deshalb entscheidend, wie viel Glasfläche für Tageslicht, Aufenthalt und Wärmegewinn weiterhin zur V</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Was die Verschattung für Wärme und Nutzung bedeutet</a:t>
            </a:r>
          </a:p>
        </p:txBody>
      </p:sp>
      <p:sp>
        <p:nvSpPr>
          <p:cNvPr id="3" name="Content Placeholder 2"/>
          <p:cNvSpPr>
            <a:spLocks noGrp="1"/>
          </p:cNvSpPr>
          <p:nvPr>
            <p:ph idx="1"/>
          </p:nvPr>
        </p:nvSpPr>
        <p:spPr/>
        <p:txBody>
          <a:bodyPr/>
          <a:lstStyle/>
          <a:p>
            <a:pPr>
              <a:defRPr sz="1800"/>
            </a:pPr>
            <a:r>
              <a:t>erfügung stehen.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Opake oder semitransparente Module</a:t>
            </a:r>
          </a:p>
        </p:txBody>
      </p:sp>
      <p:sp>
        <p:nvSpPr>
          <p:cNvPr id="3" name="Content Placeholder 2"/>
          <p:cNvSpPr>
            <a:spLocks noGrp="1"/>
          </p:cNvSpPr>
          <p:nvPr>
            <p:ph idx="1"/>
          </p:nvPr>
        </p:nvSpPr>
        <p:spPr/>
        <p:txBody>
          <a:bodyPr/>
          <a:lstStyle/>
          <a:p>
            <a:pPr>
              <a:defRPr sz="1800"/>
            </a:pPr>
            <a:r>
              <a:t>Die Wahl der Module beeinflusst das Raumklima und die Nutzbarkeit des Wintergartens. Opake Module blockieren den Lichteinfall im Bereich ihrer Belegung vollständig. Sie können sinnvoll sein, wenn der Wintergarten hauptsächlich als energiebeitragender Raum im Sinne des Gebäudes betrachtet wird. Semitransparente Module lassen einen Teil des Lichts durch, reduzieren jedoch den Stromertrag. Sie stellen einen Kompromiss zwischen elektrischer Nutzung und der Bedeutung von Tageslicht und Aufenthaltsqualität dar. Eine Entscheidung sollte daher nicht allein die Modultechnik, sondern auch das Nutzungskonzept berücksichtigen: Soll der Wintergarten vor a</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Opake oder semitransparente Module</a:t>
            </a:r>
          </a:p>
        </p:txBody>
      </p:sp>
      <p:sp>
        <p:nvSpPr>
          <p:cNvPr id="3" name="Content Placeholder 2"/>
          <p:cNvSpPr>
            <a:spLocks noGrp="1"/>
          </p:cNvSpPr>
          <p:nvPr>
            <p:ph idx="1"/>
          </p:nvPr>
        </p:nvSpPr>
        <p:spPr/>
        <p:txBody>
          <a:bodyPr/>
          <a:lstStyle/>
          <a:p>
            <a:pPr>
              <a:defRPr sz="1800"/>
            </a:pPr>
            <a:r>
              <a:t>llem Strom liefern oder weiterhin ein komfortabler, hell nutzbarer Raum sein?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Beschattung und Modulbelegung gemeinsam planen</a:t>
            </a:r>
          </a:p>
        </p:txBody>
      </p:sp>
      <p:sp>
        <p:nvSpPr>
          <p:cNvPr id="3" name="Content Placeholder 2"/>
          <p:cNvSpPr>
            <a:spLocks noGrp="1"/>
          </p:cNvSpPr>
          <p:nvPr>
            <p:ph idx="1"/>
          </p:nvPr>
        </p:nvSpPr>
        <p:spPr/>
        <p:txBody>
          <a:bodyPr/>
          <a:lstStyle/>
          <a:p>
            <a:pPr>
              <a:defRPr sz="1800"/>
            </a:pPr>
            <a:r>
              <a:t>Dach- und Seitenflächen eines Wintergartens werden bei der Beschattungsplanung getrennt bewertet. Photovoltaik verändert diese Ausgangssituation, weil der solare Eintrag über dem Dach nicht mehr allein von der Verglasung und einer beweglichen Beschattung abhängt, sondern auch von der Modulbelegung. In einer integrierten Planung wird deshalb geprüft, wie viel Dachfläche für den solaren Wärmegewinn verbleibt, welche Beschattung für die übrigen Glasflächen erforderlich ist und wie sich veränderte Lichtverhältnisse auf die Nutzbarkeit des Raums auswirken. Diese drei Fragen verbinden technische Anforderungen mit der Frage, wie der Wintergarten kün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Beschattung und Modulbelegung gemeinsam planen</a:t>
            </a:r>
          </a:p>
        </p:txBody>
      </p:sp>
      <p:sp>
        <p:nvSpPr>
          <p:cNvPr id="3" name="Content Placeholder 2"/>
          <p:cNvSpPr>
            <a:spLocks noGrp="1"/>
          </p:cNvSpPr>
          <p:nvPr>
            <p:ph idx="1"/>
          </p:nvPr>
        </p:nvSpPr>
        <p:spPr/>
        <p:txBody>
          <a:bodyPr/>
          <a:lstStyle/>
          <a:p>
            <a:pPr>
              <a:defRPr sz="1800"/>
            </a:pPr>
            <a:r>
              <a:t>ftig genutzt werden soll.</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Thermische Solaranlage und energetische Bewertung</a:t>
            </a:r>
          </a:p>
        </p:txBody>
      </p:sp>
      <p:sp>
        <p:nvSpPr>
          <p:cNvPr id="3" name="Content Placeholder 2"/>
          <p:cNvSpPr>
            <a:spLocks noGrp="1"/>
          </p:cNvSpPr>
          <p:nvPr>
            <p:ph idx="1"/>
          </p:nvPr>
        </p:nvSpPr>
        <p:spPr/>
        <p:txBody>
          <a:bodyPr/>
          <a:lstStyle/>
          <a:p>
            <a:pPr>
              <a:defRPr sz="1800"/>
            </a:pPr>
            <a:r>
              <a:t>Eine thermische Solaranlage ist eine Alternative zur Photovoltaik, wenn die Wärmeerzeugung im Vordergrund steht. Sie wandelt Strahlung in Wärme um, kann Wasser oder Luft erwärmen und beeinflusst den solaren Wärmegewinn des Wintergartens nicht in derselben Weise nachteilig wie Module. Auch hier können Montage und Anschlüsse bauliche Synergien schaffen. Unabhängig von der gewählten Technologie verändert eine Solaranlage auf dem Dach die energetische Bilanz des Wintergartens. Wintergärten können in die energetische Bewertung eines Gebäudes einfließen; die konkrete Bewertung hängt dabei von den örtlichen Anforderungen, dem Bestandsgebäude und der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Thermische Solaranlage und energetische Bewertung</a:t>
            </a:r>
          </a:p>
        </p:txBody>
      </p:sp>
      <p:sp>
        <p:nvSpPr>
          <p:cNvPr id="3" name="Content Placeholder 2"/>
          <p:cNvSpPr>
            <a:spLocks noGrp="1"/>
          </p:cNvSpPr>
          <p:nvPr>
            <p:ph idx="1"/>
          </p:nvPr>
        </p:nvSpPr>
        <p:spPr/>
        <p:txBody>
          <a:bodyPr/>
          <a:lstStyle/>
          <a:p>
            <a:pPr>
              <a:defRPr sz="1800"/>
            </a:pPr>
            <a:r>
              <a:t> tatsächlichen Konstruktion ab. Fachplanung ist daher der sinnvolle Weg, um solaren Gewinn, Stromertrag und Raumnutzung miteinander abzustimmen.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Solarenergie im Wintergarten nutzen: Photovoltaik und solare Gewinne kombinieren</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