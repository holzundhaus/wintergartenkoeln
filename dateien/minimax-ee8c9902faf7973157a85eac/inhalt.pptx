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koeln/-/blob/33390424e5eddaf0c4963e860a4b0a3fa5dfb49e/_posts/2026-10-30-waermeverluste-wintergarten-erkennen.md" TargetMode="External"/><Relationship Id="rId3" Type="http://schemas.openxmlformats.org/officeDocument/2006/relationships/hyperlink" Target="https://holzundhaus.github.io/wintergartenkoeln/dateien/minimax-ee8c9902faf7973157a85ea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Wärmeverluste im Wintergarten erkennen: Wo geht die meiste Heizenergie verloren? · Erklärende Präsentation</a:t>
            </a:r>
          </a:p>
        </p:txBody>
      </p:sp>
      <p:sp>
        <p:nvSpPr>
          <p:cNvPr id="3" name="Content Placeholder 2"/>
          <p:cNvSpPr>
            <a:spLocks noGrp="1"/>
          </p:cNvSpPr>
          <p:nvPr>
            <p:ph idx="1"/>
          </p:nvPr>
        </p:nvSpPr>
        <p:spPr/>
        <p:txBody>
          <a:bodyPr/>
          <a:lstStyle/>
          <a:p>
            <a:r>
              <a:t>Überblick: Wer einen Wintergarten energetisch sinnvoll nutzen will, sollte Wärmeverluste nicht pauschal schätzen, sondern nach Bauteilen unterscheiden. Glas, Rahmen, Boden, Dach und Anschlüsse tragen jeweils unterschiedlich zur Energiebilanz bei. Entscheidend ist deshalb die Frage: Welche Schwachstelle verursacht den größten Verlust, und welche Maßnahme passt zur geplanten Nutzung? Der folgende Leitfaden zeigt, wie sich die relevanten Bauteile prüfen lassen und wo bei einer energetischen Analyse besonders genau hingesehen werden sollte.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Wärmeverluste systematisch einordnen</a:t>
            </a:r>
          </a:p>
        </p:txBody>
      </p:sp>
      <p:sp>
        <p:nvSpPr>
          <p:cNvPr id="3" name="Content Placeholder 2"/>
          <p:cNvSpPr>
            <a:spLocks noGrp="1"/>
          </p:cNvSpPr>
          <p:nvPr>
            <p:ph idx="1"/>
          </p:nvPr>
        </p:nvSpPr>
        <p:spPr/>
        <p:txBody>
          <a:bodyPr/>
          <a:lstStyle/>
          <a:p>
            <a:pPr>
              <a:defRPr sz="1800"/>
            </a:pPr>
            <a:r>
              <a:t>Ein Wintergarten steht zwischen den Anforderungen an gute Lichtausbeute und wirksamen Wärmeschutz. Größere Glasflächen lassen zwar mehr Sonnenenergie hinein, können im Winter aber zugleich Wärme entweichen lassen. Für die Bewertung zählt daher nicht nur die Fläche, sondern auch die Qualität der gesamten Konstruktion. Eine sinnvolle Bestandsaufnahme beginnt mit den fünf zentralen Bereichen: Verglasung, Profile, Bodenaufbau, Dach und Anschlüsse zum bestehenden Gebäude. Für jeden Bereich lassen sich Bauteilaufbau, Dämmwirkung und vorhandene Mängel erfassen. So wird aus dem allgemeinen Wunsch nach weniger Verlusten eine nachvollziehbare Rangfolge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Wärmeverluste systematisch einordnen</a:t>
            </a:r>
          </a:p>
        </p:txBody>
      </p:sp>
      <p:sp>
        <p:nvSpPr>
          <p:cNvPr id="3" name="Content Placeholder 2"/>
          <p:cNvSpPr>
            <a:spLocks noGrp="1"/>
          </p:cNvSpPr>
          <p:nvPr>
            <p:ph idx="1"/>
          </p:nvPr>
        </p:nvSpPr>
        <p:spPr/>
        <p:txBody>
          <a:bodyPr/>
          <a:lstStyle/>
          <a:p>
            <a:pPr>
              <a:defRPr sz="1800"/>
            </a:pPr>
            <a:r>
              <a:t> konkreter Maßnahmen. Besonders hilfreich ist eine solche Analyse, wenn beheizte und unbeheizte Wintergärten unterschiedlich bewertet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Verglasung und Profile gemeinsam betrachten</a:t>
            </a:r>
          </a:p>
        </p:txBody>
      </p:sp>
      <p:sp>
        <p:nvSpPr>
          <p:cNvPr id="3" name="Content Placeholder 2"/>
          <p:cNvSpPr>
            <a:spLocks noGrp="1"/>
          </p:cNvSpPr>
          <p:nvPr>
            <p:ph idx="1"/>
          </p:nvPr>
        </p:nvSpPr>
        <p:spPr/>
        <p:txBody>
          <a:bodyPr/>
          <a:lstStyle/>
          <a:p>
            <a:pPr>
              <a:defRPr sz="1800"/>
            </a:pPr>
            <a:r>
              <a:t>Bei der Verglasung ist der Ug-Wert der wichtigste Einzelwert für den Wärmeverlust. Er beschreibt, wie viel Wärme je Quadratmeter Scheibenfläche und Kelvin nach außen übertragen werden. Einfachverglasung liegt laut Quelle bei rund 5,8 W/(m²·K), moderne Dreifachisolierverglasung bei etwa 0,5 bis 0,7 W/(m²·K). Für beheizte Wintergärten ist deshalb eine gut gedämmte Isolierverglasung die vorrangige Entscheidung. Der g-Wert ergänzt diese Betrachtung: Er beschreibt den solaren Wärmegewinn. Ein hoher g-Wert kann im Winter nützlich sein, sollte im Sommer aber durch eine passende Beschattung ergänzt werden.-profile sollten nicht isoliert betrachtet we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Verglasung und Profile gemeinsam betrachten</a:t>
            </a:r>
          </a:p>
        </p:txBody>
      </p:sp>
      <p:sp>
        <p:nvSpPr>
          <p:cNvPr id="3" name="Content Placeholder 2"/>
          <p:cNvSpPr>
            <a:spLocks noGrp="1"/>
          </p:cNvSpPr>
          <p:nvPr>
            <p:ph idx="1"/>
          </p:nvPr>
        </p:nvSpPr>
        <p:spPr/>
        <p:txBody>
          <a:bodyPr/>
          <a:lstStyle/>
          <a:p>
            <a:pPr>
              <a:defRPr sz="1800"/>
            </a:pPr>
            <a:r>
              <a:t>rden. Aluminiumprofile ohne thermische Trennung können als Wärmebrücken wirken. Besser gedämmte Systeme verfügen über innere Kammern oder eine entsprechende Trennung. Zusätzlich zum Ug-Wert ist der Uw-Wert des gesamten Fensters relevant, weil er Rahmen, Scheibe und deren Verbindung gemeinsam berücksichtigt. Mehr zum Fundament und Bodenaufbau erfahren Sie im ergänzenden Ratgeber.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 Gründung und Feuchteschutz prüfen</a:t>
            </a:r>
          </a:p>
        </p:txBody>
      </p:sp>
      <p:sp>
        <p:nvSpPr>
          <p:cNvPr id="3" name="Content Placeholder 2"/>
          <p:cNvSpPr>
            <a:spLocks noGrp="1"/>
          </p:cNvSpPr>
          <p:nvPr>
            <p:ph idx="1"/>
          </p:nvPr>
        </p:nvSpPr>
        <p:spPr/>
        <p:txBody>
          <a:bodyPr/>
          <a:lstStyle/>
          <a:p>
            <a:pPr>
              <a:defRPr sz="1800"/>
            </a:pPr>
            <a:r>
              <a:t>Nicht alle Verluste entstehen durch Glas. Über den Boden kann ein relevanter Anteil der Wärme entweichen, besonders wenn darunter Erdreich oder unbeheizte Kellerräume liegen. Bei einem beheizten Wintergarten gehört ein wärmegedämmter Bodenaufbau daher zur energetischen Planung. Dazu zählen eine abgestimmte Dämmung, eine Perimeterdämmung und der passende Einsatz einer Dampfsperre. Die konkrete Ausführung hängt von den örtlichen Bodenverhältnissen und der vorgesehenen Nutzung ab. Auch bei einem Kaltwintergarten bleibt Feuchteschutz wichtig: Die Abdichtung muss verhindern, dass Feuchtigkeit in die Konstruktion gelangt. Für die Prüfung sollten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 Gründung und Feuchteschutz prüfen</a:t>
            </a:r>
          </a:p>
        </p:txBody>
      </p:sp>
      <p:sp>
        <p:nvSpPr>
          <p:cNvPr id="3" name="Content Placeholder 2"/>
          <p:cNvSpPr>
            <a:spLocks noGrp="1"/>
          </p:cNvSpPr>
          <p:nvPr>
            <p:ph idx="1"/>
          </p:nvPr>
        </p:nvSpPr>
        <p:spPr/>
        <p:txBody>
          <a:bodyPr/>
          <a:lstStyle/>
          <a:p>
            <a:pPr>
              <a:defRPr sz="1800"/>
            </a:pPr>
            <a:r>
              <a:t>shalb nicht nur die sichtbaren Schichten betrachtet werden, sondern auch der Aufbau im Bereich zwischen den vorhandenen Räumen und der Außenfläche. Die energetische Schwachstellenanalyse untersucht, an welchen Stellen Feuchtigkeit, Kältebrücken oder unzureichende Dämmung die Nutzung beeinträchtigen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und Anschlüsse als Schwachstellen identifizieren</a:t>
            </a:r>
          </a:p>
        </p:txBody>
      </p:sp>
      <p:sp>
        <p:nvSpPr>
          <p:cNvPr id="3" name="Content Placeholder 2"/>
          <p:cNvSpPr>
            <a:spLocks noGrp="1"/>
          </p:cNvSpPr>
          <p:nvPr>
            <p:ph idx="1"/>
          </p:nvPr>
        </p:nvSpPr>
        <p:spPr/>
        <p:txBody>
          <a:bodyPr/>
          <a:lstStyle/>
          <a:p>
            <a:pPr>
              <a:defRPr sz="1800"/>
            </a:pPr>
            <a:r>
              <a:t>Das Dach ist starken Witterungseinflüssen ausgesetzt und muss zusätzlich Unterschiede zwischen Innen- und Außentemperatur aushalten. Eine Isolierverglasung mit thermisch getrennten Profilen reduziert die Wärmeverluste. Ebenso wichtig sind die Übergänge zum Wohnhaus, der Dachrand, die Dachrinne und sämtliche Durchdringungen. Lücken, unsaubere Anschlüsse oder undichte Fugen fördern unkontrollierten Luftaustausch und erhöhen dadurch den Heizbedarf. Bei einer Begehung lassen sich deshalb typische Schwachstellen prüfen: sichtbare Ritzen, Ablaufspuren, beschädigte Abdichtungen und Stellen, an denen Dämmmaterial fehlt oder unterbrochen ist. Ergänzen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und Anschlüsse als Schwachstellen identifizieren</a:t>
            </a:r>
          </a:p>
        </p:txBody>
      </p:sp>
      <p:sp>
        <p:nvSpPr>
          <p:cNvPr id="3" name="Content Placeholder 2"/>
          <p:cNvSpPr>
            <a:spLocks noGrp="1"/>
          </p:cNvSpPr>
          <p:nvPr>
            <p:ph idx="1"/>
          </p:nvPr>
        </p:nvSpPr>
        <p:spPr/>
        <p:txBody>
          <a:bodyPr/>
          <a:lstStyle/>
          <a:p>
            <a:pPr>
              <a:defRPr sz="1800"/>
            </a:pPr>
            <a:r>
              <a:t>d zählt die Dichtheit der Türen. Ein geschlossener Wintergarten verliert nicht nur über seine Bauteile Wärme, sondern vor allem dann, wenn kalte Außenluft ungehindert in den Raum gelangt.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Maßnahmen priorisieren und gemeinsam prüfen</a:t>
            </a:r>
          </a:p>
        </p:txBody>
      </p:sp>
      <p:sp>
        <p:nvSpPr>
          <p:cNvPr id="3" name="Content Placeholder 2"/>
          <p:cNvSpPr>
            <a:spLocks noGrp="1"/>
          </p:cNvSpPr>
          <p:nvPr>
            <p:ph idx="1"/>
          </p:nvPr>
        </p:nvSpPr>
        <p:spPr/>
        <p:txBody>
          <a:bodyPr/>
          <a:lstStyle/>
          <a:p>
            <a:pPr>
              <a:defRPr sz="1800"/>
            </a:pPr>
            <a:r>
              <a:t>Die sinnvollste Reihenfolge beginnt in der Regel mit der Isolierverglasung, gefolgt von thermisch getrennten Profilen. Danach folgen der gedämmte Bodenaufbau und die luftdichte Ausführung von Wandanschluss, Dachrand und Türen. Eine abgestimmte Außenbeschattung gehört ebenfalls zur Gesamtlösung, weil sie sommerliche Überhitzung reduziert und das Raumklima über das Jahr hinweg verbessert. Entscheidend ist, dass kein Bauteil isoliert optimiert wird. Eine gemeinsame energetische Schwachstellenanalyse kann zeigen, wo der größte Nutzen liegt und wie sich Investitionen sinnvoll aufeinander abstimmen lassen. Sie berücksichtigt dabei die geplante Nutz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Maßnahmen priorisieren und gemeinsam prüfen</a:t>
            </a:r>
          </a:p>
        </p:txBody>
      </p:sp>
      <p:sp>
        <p:nvSpPr>
          <p:cNvPr id="3" name="Content Placeholder 2"/>
          <p:cNvSpPr>
            <a:spLocks noGrp="1"/>
          </p:cNvSpPr>
          <p:nvPr>
            <p:ph idx="1"/>
          </p:nvPr>
        </p:nvSpPr>
        <p:spPr/>
        <p:txBody>
          <a:bodyPr/>
          <a:lstStyle/>
          <a:p>
            <a:pPr>
              <a:defRPr sz="1800"/>
            </a:pPr>
            <a:r>
              <a:t>ung und die vorhandene Konstruktion, ohne pauschale Empfehlungen oder unbelegte Einsparversprechen auszugeben.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Wärmeverluste im Wintergarten erkennen: Wo geht die meiste Heizenergie verloren?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