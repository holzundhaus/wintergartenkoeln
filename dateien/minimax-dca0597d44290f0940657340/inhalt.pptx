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wintergartenkoeln/heizungssysteme-wohnwintergarten-auswahl/" TargetMode="External"/><Relationship Id="rId3" Type="http://schemas.openxmlformats.org/officeDocument/2006/relationships/hyperlink" Target="https://holzundhaus.github.io/wintergartenkoeln/dateien/minimax-dca0597d44290f094065734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Heizungssysteme im Wohnwintergarten: Auswahl und Einordnung · Erklärende Präsentation</a:t>
            </a:r>
          </a:p>
        </p:txBody>
      </p:sp>
      <p:sp>
        <p:nvSpPr>
          <p:cNvPr id="3" name="Content Placeholder 2"/>
          <p:cNvSpPr>
            <a:spLocks noGrp="1"/>
          </p:cNvSpPr>
          <p:nvPr>
            <p:ph idx="1"/>
          </p:nvPr>
        </p:nvSpPr>
        <p:spPr/>
        <p:txBody>
          <a:bodyPr/>
          <a:lstStyle/>
          <a:p>
            <a:r>
              <a:t>Überblick: Die Heizung im Wohnwintergarten wird nicht isoliert, sondern als Teil eines abgestimmten Gebäudekonzepts ausgewählt. Entscheidend sind der geplante Nutzungszweck, die gewünschte Raumtemperatur, die bauliche Ausstattung und die Anbindung an das bestehende Haussystem. Erst wenn diese Punkte geklärt sind, lässt sich eine Heizungslösung sinnvoll dimensionieren. Die folgenden Hinweise ordnen die wichtigsten Systeme ein und zeigen, worauf bei der Planung in Köln besonders geachtet werden sollte.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Gebäudehülle vor der Heizung festgelegt werden sollte</a:t>
            </a:r>
          </a:p>
        </p:txBody>
      </p:sp>
      <p:sp>
        <p:nvSpPr>
          <p:cNvPr id="3" name="Content Placeholder 2"/>
          <p:cNvSpPr>
            <a:spLocks noGrp="1"/>
          </p:cNvSpPr>
          <p:nvPr>
            <p:ph idx="1"/>
          </p:nvPr>
        </p:nvSpPr>
        <p:spPr/>
        <p:txBody>
          <a:bodyPr/>
          <a:lstStyle/>
          <a:p>
            <a:pPr>
              <a:defRPr sz="1800"/>
            </a:pPr>
            <a:r>
              <a:t>Ein Wohnwintergarten benötigt eine stimmige Gebäudehülle, damit die gewünschte Wärme im Raum bleibt. Dazu gehören die Verglasung, der wärmegedämmte Bodenaufbau, das Dach, die Profile und der Anschluss an das Haus. Der U-Wert einer einzelnen Scheibe beschreibt nicht automatisch den gesamten Wärmeverlust des Raums. Auch Randverbindungen, Anschlüsse und die Ausführung der Profile beeinflussen das Ergebnis. Die Heizung ergänzt diese Maßnahmen, sie kann sie nicht ersetzen. Wird sie zu früh ausgewählt, drohen ein höherer Energiebedarf und eine unwirtschaftliche Auslegung. Sinnvoll ist daher, zunächst Nutzung, Temperatur und Hüllenkonzept zu beschre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Gebäudehülle vor der Heizung festgelegt werden sollte</a:t>
            </a:r>
          </a:p>
        </p:txBody>
      </p:sp>
      <p:sp>
        <p:nvSpPr>
          <p:cNvPr id="3" name="Content Placeholder 2"/>
          <p:cNvSpPr>
            <a:spLocks noGrp="1"/>
          </p:cNvSpPr>
          <p:nvPr>
            <p:ph idx="1"/>
          </p:nvPr>
        </p:nvSpPr>
        <p:spPr/>
        <p:txBody>
          <a:bodyPr/>
          <a:lstStyle/>
          <a:p>
            <a:pPr>
              <a:defRPr sz="1800"/>
            </a:pPr>
            <a:r>
              <a:t>iben. Das unterstützt auch eine klare Beratung durch Fachbetriebe.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Flächenheizungen für gleichmäßige Wärme</a:t>
            </a:r>
          </a:p>
        </p:txBody>
      </p:sp>
      <p:sp>
        <p:nvSpPr>
          <p:cNvPr id="3" name="Content Placeholder 2"/>
          <p:cNvSpPr>
            <a:spLocks noGrp="1"/>
          </p:cNvSpPr>
          <p:nvPr>
            <p:ph idx="1"/>
          </p:nvPr>
        </p:nvSpPr>
        <p:spPr/>
        <p:txBody>
          <a:bodyPr/>
          <a:lstStyle/>
          <a:p>
            <a:pPr>
              <a:defRPr sz="1800"/>
            </a:pPr>
            <a:r>
              <a:t>Eine Fußbodenheizung verteilt die Wärme flächig über den Boden. Das kann bei dauerhaften Aufenthaltszonen und dem Wunsch nach einer gleichmäßigen Raumtemperatur sinnvoll sein. Voraussetzung ist ein Bodenaufbau, der die Wärme nach oben abgibt und nicht einen großen Anteil in den Untergrund verliert. Deshalb müssen Dämmung, Rohrleitung und Bodenaufbau aufeinander abgestimmt werden. Eine Wandheizung kann eine Alternative sein, wenn der Boden nicht für Rohrleitungen geöffnet werden soll oder die Wärme im oberen Raumbereich austreten soll. Auch hier ist der Wärmeschutz des Gesamtsystems wichtig: Eine ungünstig integrierte Wandheizung kann zur Wärm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Flächenheizungen für gleichmäßige Wärme</a:t>
            </a:r>
          </a:p>
        </p:txBody>
      </p:sp>
      <p:sp>
        <p:nvSpPr>
          <p:cNvPr id="3" name="Content Placeholder 2"/>
          <p:cNvSpPr>
            <a:spLocks noGrp="1"/>
          </p:cNvSpPr>
          <p:nvPr>
            <p:ph idx="1"/>
          </p:nvPr>
        </p:nvSpPr>
        <p:spPr/>
        <p:txBody>
          <a:bodyPr/>
          <a:lstStyle/>
          <a:p>
            <a:pPr>
              <a:defRPr sz="1800"/>
            </a:pPr>
            <a:r>
              <a:t>ebrücke werden. Beide Flächenheizungen benötigen deshalb eine vorausschauende Integration in die Konstruktion.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Konvektoren, Radiatoren und Warmluftsysteme</a:t>
            </a:r>
          </a:p>
        </p:txBody>
      </p:sp>
      <p:sp>
        <p:nvSpPr>
          <p:cNvPr id="3" name="Content Placeholder 2"/>
          <p:cNvSpPr>
            <a:spLocks noGrp="1"/>
          </p:cNvSpPr>
          <p:nvPr>
            <p:ph idx="1"/>
          </p:nvPr>
        </p:nvSpPr>
        <p:spPr/>
        <p:txBody>
          <a:bodyPr/>
          <a:lstStyle/>
          <a:p>
            <a:pPr>
              <a:defRPr sz="1800"/>
            </a:pPr>
            <a:r>
              <a:t>Konvektoren und Radiatoren erwärmen die Raumluft direkt und reagieren vergleichsweise schnell. Sie können daher kurzfristige Spitzen abfangen und in größeren, gut gedämmten Wohnwintergärten eine Ergänzung zu einer Flächenheizung sein. In schlecht gedämmten Glasräumen müssten sie jedoch häufiger und über längere Zeiträume laufen, weil die Verluste über die Glasflächen fortbestehen. Luftheizungen erwärmen den Raum über kanalführende Systeme. Sie können passen, wenn ohnehin ein Lüftungskonzept mit kontrollierter Frischluftzufuhr besteht. Als alleinige Lösung sind sie im Wohnwintergarten häufig nicht ausreichend, da die gefühlte Temperatur auch 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Konvektoren, Radiatoren und Warmluftsysteme</a:t>
            </a:r>
          </a:p>
        </p:txBody>
      </p:sp>
      <p:sp>
        <p:nvSpPr>
          <p:cNvPr id="3" name="Content Placeholder 2"/>
          <p:cNvSpPr>
            <a:spLocks noGrp="1"/>
          </p:cNvSpPr>
          <p:nvPr>
            <p:ph idx="1"/>
          </p:nvPr>
        </p:nvSpPr>
        <p:spPr/>
        <p:txBody>
          <a:bodyPr/>
          <a:lstStyle/>
          <a:p>
            <a:pPr>
              <a:defRPr sz="1800"/>
            </a:pPr>
            <a:r>
              <a:t>on der Oberflächentemperatur der umgebenden Bauteile abhängt. Die Auswahl sollte daher nicht allein nach der Reaktionsfähigkeit eines Systems getroffen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Anbindung, Dimensionierung und Sonnenschutz</a:t>
            </a:r>
          </a:p>
        </p:txBody>
      </p:sp>
      <p:sp>
        <p:nvSpPr>
          <p:cNvPr id="3" name="Content Placeholder 2"/>
          <p:cNvSpPr>
            <a:spLocks noGrp="1"/>
          </p:cNvSpPr>
          <p:nvPr>
            <p:ph idx="1"/>
          </p:nvPr>
        </p:nvSpPr>
        <p:spPr/>
        <p:txBody>
          <a:bodyPr/>
          <a:lstStyle/>
          <a:p>
            <a:pPr>
              <a:defRPr sz="1800"/>
            </a:pPr>
            <a:r>
              <a:t>Für die Auswahl ist die vorhandene Haustechnik maßgeblich. Niedertemperatur- und Wärmepumpensysteme arbeiten mit niedrigen Vorlauftemperaturen und lassen sich gut mit Flächenheizungen kombinieren. Konventionelle Heizkessel mit höheren Vorlauftemperaturen passen eher zu Radiatoren und Konvektoren. Eine separate Steuerung für den Wintergarten kann verhindern, dass die Heizkurve des gesamten Hauses dauerhaft angehoben werden muss. Die erforderliche Anschlussleistung lässt sich nicht allgemein pauschal bestimmen. Sie ergibt sich aus der Wärmebilanz des konkreten Raums und berücksichtigt Verglasung, Bauweise, Ausrichtung und Nutzungsprofil. Auch 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Anbindung, Dimensionierung und Sonnenschutz</a:t>
            </a:r>
          </a:p>
        </p:txBody>
      </p:sp>
      <p:sp>
        <p:nvSpPr>
          <p:cNvPr id="3" name="Content Placeholder 2"/>
          <p:cNvSpPr>
            <a:spLocks noGrp="1"/>
          </p:cNvSpPr>
          <p:nvPr>
            <p:ph idx="1"/>
          </p:nvPr>
        </p:nvSpPr>
        <p:spPr/>
        <p:txBody>
          <a:bodyPr/>
          <a:lstStyle/>
          <a:p>
            <a:pPr>
              <a:defRPr sz="1800"/>
            </a:pPr>
            <a:r>
              <a:t>onnenschutz und Lüftung gehören in diese Betrachtung, weil Überwärmung und sommerliche Wärmeeinträge die Planung beeinflussen. Der Wintergarten sollte daher im Zusammenhang mit Haustechnik, Lüftung und Beschattung entworfen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Häufige Planungsfehler und sinnvolle Schritte</a:t>
            </a:r>
          </a:p>
        </p:txBody>
      </p:sp>
      <p:sp>
        <p:nvSpPr>
          <p:cNvPr id="3" name="Content Placeholder 2"/>
          <p:cNvSpPr>
            <a:spLocks noGrp="1"/>
          </p:cNvSpPr>
          <p:nvPr>
            <p:ph idx="1"/>
          </p:nvPr>
        </p:nvSpPr>
        <p:spPr/>
        <p:txBody>
          <a:bodyPr/>
          <a:lstStyle/>
          <a:p>
            <a:pPr>
              <a:defRPr sz="1800"/>
            </a:pPr>
            <a:r>
              <a:t>Typische Fehler entstehen, wenn die Heizung vor dem Hüllenkonzept festgelegt wird, einzelne Glaswerte mit dem Gesamtwärmeverlust gleichgesetzt werden oder Sonnenschutz und Lüftung außer Betracht bleiben. Auch Bodenaufbau und Rohrleitungsführung sollten nicht unabhängig voneinander geplant werden. Für die erste Anfrage an Fachbetriebe genügt eine kurze Beschreibung: gewünschte Nutzung, angestrebte Temperatur, Hüllenkonzept und Anschluss an das Haus. Eine spätere Umnutzung eines Kaltwintergartens ist kein einfacher Heizungseinbau, weil sie auch Gründung, Bodenaufbau, Glas, Profile, Dach, Anschlüsse und die baurechtliche Einordnung betrifft. Für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Häufige Planungsfehler und sinnvolle Schritte</a:t>
            </a:r>
          </a:p>
        </p:txBody>
      </p:sp>
      <p:sp>
        <p:nvSpPr>
          <p:cNvPr id="3" name="Content Placeholder 2"/>
          <p:cNvSpPr>
            <a:spLocks noGrp="1"/>
          </p:cNvSpPr>
          <p:nvPr>
            <p:ph idx="1"/>
          </p:nvPr>
        </p:nvSpPr>
        <p:spPr/>
        <p:txBody>
          <a:bodyPr/>
          <a:lstStyle/>
          <a:p>
            <a:pPr>
              <a:defRPr sz="1800"/>
            </a:pPr>
            <a:r>
              <a:t> die konkrete Ausführung sind daher die Anforderungen des jeweiligen Vorhabens sowie die fachlich zu prüfenden aktuellen Vorschriften maßgeblich.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Heizungssysteme im Wohnwintergarten: Auswahl und Einordnung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