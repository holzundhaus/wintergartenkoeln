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koeln/schallschutz-wintergarten-stadtlage/" TargetMode="External"/><Relationship Id="rId3" Type="http://schemas.openxmlformats.org/officeDocument/2006/relationships/hyperlink" Target="https://holzundhaus.github.io/wintergartenkoeln/dateien/minimax-081a6cd07c0f3bca29cd34b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Wintergarten: Ruhe finden trotz Stadtlage · Erklärende Präsentation</a:t>
            </a:r>
          </a:p>
        </p:txBody>
      </p:sp>
      <p:sp>
        <p:nvSpPr>
          <p:cNvPr id="3" name="Content Placeholder 2"/>
          <p:cNvSpPr>
            <a:spLocks noGrp="1"/>
          </p:cNvSpPr>
          <p:nvPr>
            <p:ph idx="1"/>
          </p:nvPr>
        </p:nvSpPr>
        <p:spPr/>
        <p:txBody>
          <a:bodyPr/>
          <a:lstStyle/>
          <a:p>
            <a:r>
              <a:t>Überblick: Ein Wintergarten in Köln soll nicht nur hell und komfortabel sein, sondern in einer belebten Umgebung auch möglichst ruhig nutzbar bleiben. Besonders bei Straßenlärm, Schienenverkehr, Gewerbe oder Innenhof entscheidet die Gesamtkonstruktion über den Schallschutz – Glas, Profile, Anschlüsse, Türen und Lüftung wirken gemeinsam. Dieser Leitfaden zeigt, welche Angaben bei Planung und Angebotsvergleich wichtig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als Gesamtkonzept verstehen</a:t>
            </a:r>
          </a:p>
        </p:txBody>
      </p:sp>
      <p:sp>
        <p:nvSpPr>
          <p:cNvPr id="3" name="Content Placeholder 2"/>
          <p:cNvSpPr>
            <a:spLocks noGrp="1"/>
          </p:cNvSpPr>
          <p:nvPr>
            <p:ph idx="1"/>
          </p:nvPr>
        </p:nvSpPr>
        <p:spPr/>
        <p:txBody>
          <a:bodyPr/>
          <a:lstStyle/>
          <a:p>
            <a:pPr>
              <a:defRPr sz="1800"/>
            </a:pPr>
            <a:r>
              <a:t>Schall gelangt nicht nur durch die Scheibenflächen in den Wintergarten. Rahmenprofile, Anschlüsse an Wand, Boden und Dach, undichte Übergänge sowie Schiebetüren können weitere Eintrittswege bilden. Auch Lüftungsöffnungen, Kippfenster, Dachluken und Außenluftdurchlässe beeinflussen, wie viel Außenlärm im Raum hörbar bleibt. Deshalb reicht es nicht aus, ausschließlich das Schalldämm-Maß der Verglasung zu betrachten. Sinnvoll ist eine Planung nach Bauteilen: Seitenflächen, Dachflächen, bewegliche Elemente, Lüftungswege und Anschlüsse sollten getrennt betrachtet und anschließend als Gesamtpaket beurteilt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Schalldämmwerte richtig vergleichen</a:t>
            </a:r>
          </a:p>
        </p:txBody>
      </p:sp>
      <p:sp>
        <p:nvSpPr>
          <p:cNvPr id="3" name="Content Placeholder 2"/>
          <p:cNvSpPr>
            <a:spLocks noGrp="1"/>
          </p:cNvSpPr>
          <p:nvPr>
            <p:ph idx="1"/>
          </p:nvPr>
        </p:nvSpPr>
        <p:spPr/>
        <p:txBody>
          <a:bodyPr/>
          <a:lstStyle/>
          <a:p>
            <a:pPr>
              <a:defRPr sz="1800"/>
            </a:pPr>
            <a:r>
              <a:t>Das Schalldämm-Maß Rw beschreibt, wie stark ein Bauteil Luftschall reduziert. Je höher der Wert in Dezibel, desto weniger Schall gelangt über dieses Bauteil in den Innenraum. Für eine realistische Einordnung sind zusätzlich die Anpassungswerte C und Ctr wichtig, weil sie unterschiedliche Frequenzbereiche berücksichtigen. Vergleiche sind nur aussagekräftig, wenn Aufbau und Scheibenkombination ähnlich beschrieben sind. Mehrscheiben-Isolierglas mit asymmetrischem Aufbau, also unterschiedlichen Scheibendicken, dämmt in der Regel besser als eine gleich aufgebaute Einheit. Verbund-Sicherheitsglas mit akustisch wirksamer Folie kann den Wert gegenübe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Schalldämmwerte richtig vergleichen</a:t>
            </a:r>
          </a:p>
        </p:txBody>
      </p:sp>
      <p:sp>
        <p:nvSpPr>
          <p:cNvPr id="3" name="Content Placeholder 2"/>
          <p:cNvSpPr>
            <a:spLocks noGrp="1"/>
          </p:cNvSpPr>
          <p:nvPr>
            <p:ph idx="1"/>
          </p:nvPr>
        </p:nvSpPr>
        <p:spPr/>
        <p:txBody>
          <a:bodyPr/>
          <a:lstStyle/>
          <a:p>
            <a:pPr>
              <a:defRPr sz="1800"/>
            </a:pPr>
            <a:r>
              <a:t>r reinem Isolierglas erhöhen. Der tatsächliche Schallschutz am Bau bleibt meist niedriger als der reine Scheibenwert, weil Rahmen und Anschlüsse ebenfalls einfließen.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Öffnungen ausgewogen planen</a:t>
            </a:r>
          </a:p>
        </p:txBody>
      </p:sp>
      <p:sp>
        <p:nvSpPr>
          <p:cNvPr id="3" name="Content Placeholder 2"/>
          <p:cNvSpPr>
            <a:spLocks noGrp="1"/>
          </p:cNvSpPr>
          <p:nvPr>
            <p:ph idx="1"/>
          </p:nvPr>
        </p:nvSpPr>
        <p:spPr/>
        <p:txBody>
          <a:bodyPr/>
          <a:lstStyle/>
          <a:p>
            <a:pPr>
              <a:defRPr sz="1800"/>
            </a:pPr>
            <a:r>
              <a:t>Ein vollständig geschlossener Wintergarten ist selten. Für die Frischluftführung werden deshalb Schiebetüren, Kippfenster, Lüftungsschieber oder eine Komfortlüftung benötigt. Wer Öffnungen lediglich verschließt, beeinträchtigt in der Regel das Raumklima; wer großzügig lüftet, kann wiederum mehr Schall hereinlassen. Bei Lüftungsschiebern in der Wand können gedämpfte Ausführungen relevant sein. Schiebetüren verursachen durch ihre umlaufenden Fugen zusätzliche Schallwege. Bei einer Komfortlüftung gehören Schalldämpfer im Kanal und gedämmte Außenwandgitter zum Konzept. Entscheidend ist daher nicht nur die Lüftungsfläche, sondern auch deren Lage,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Öffnungen ausgewogen planen</a:t>
            </a:r>
          </a:p>
        </p:txBody>
      </p:sp>
      <p:sp>
        <p:nvSpPr>
          <p:cNvPr id="3" name="Content Placeholder 2"/>
          <p:cNvSpPr>
            <a:spLocks noGrp="1"/>
          </p:cNvSpPr>
          <p:nvPr>
            <p:ph idx="1"/>
          </p:nvPr>
        </p:nvSpPr>
        <p:spPr/>
        <p:txBody>
          <a:bodyPr/>
          <a:lstStyle/>
          <a:p>
            <a:pPr>
              <a:defRPr sz="1800"/>
            </a:pPr>
            <a:r>
              <a:t>die Öffnungsgröße und die akustische Dämmung der eingesetzten Bauteile.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und Angebote konkret prüfen</a:t>
            </a:r>
          </a:p>
        </p:txBody>
      </p:sp>
      <p:sp>
        <p:nvSpPr>
          <p:cNvPr id="3" name="Content Placeholder 2"/>
          <p:cNvSpPr>
            <a:spLocks noGrp="1"/>
          </p:cNvSpPr>
          <p:nvPr>
            <p:ph idx="1"/>
          </p:nvPr>
        </p:nvSpPr>
        <p:spPr/>
        <p:txBody>
          <a:bodyPr/>
          <a:lstStyle/>
          <a:p>
            <a:pPr>
              <a:defRPr sz="1800"/>
            </a:pPr>
            <a:r>
              <a:t>Vor der Auswahl konkreter Bauteile hilft eine Bestandsaufnahme der Umgebung. Zu klären ist, welche Geräusche tagsüber und abends vorherrschen, ob Straße, Schiene, Gewerbe oder Innenhof relevant sind und wann im Raum tatsächlich Ruhe gewünscht wird. Ebenso wichtig ist die Lage des Wintergartens: Eine Ausrichtung zur ruhigeren Seite kann die Anforderungen stärker beeinflussen als ein zusätzliches Scheibenpaar. Für den Angebotsvergleich sollten Interessenten das Schalldämm-Maß der Verglasung einschließlich C- und Ctr-Werten, Angaben zu Dach und Seitenflächen sowie das Maß der gesamten Bauteilgruppe mit Rahmen verlangen. Auch Dichtungen, Falzbelü</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und Angebote konkret prüfen</a:t>
            </a:r>
          </a:p>
        </p:txBody>
      </p:sp>
      <p:sp>
        <p:nvSpPr>
          <p:cNvPr id="3" name="Content Placeholder 2"/>
          <p:cNvSpPr>
            <a:spLocks noGrp="1"/>
          </p:cNvSpPr>
          <p:nvPr>
            <p:ph idx="1"/>
          </p:nvPr>
        </p:nvSpPr>
        <p:spPr/>
        <p:txBody>
          <a:bodyPr/>
          <a:lstStyle/>
          <a:p>
            <a:pPr>
              <a:defRPr sz="1800"/>
            </a:pPr>
            <a:r>
              <a:t>ftung, Anschlüsse und die Einbausituation gehören in die Bewertung. Die Hinweise zur Verglasungsplanung erläutern, wie Glas, Profil und Sicherheitsfunktion zusammenpassen; der Kostenratgeber unterstützt den Vergleich vollständiger Angebote. Eine endgültige Auswahl bleibt eine fachliche Projektentscheidung.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Schallschutz im Wintergarten: Ruhe finden trotz Stadtlage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