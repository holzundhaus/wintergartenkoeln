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intergartenkoeln.wordpress.com/2026/10/24/wintergarten-wartung-und-pflege-aufgaben-intervalle-zustaendigkeiten/" TargetMode="External"/><Relationship Id="rId3" Type="http://schemas.openxmlformats.org/officeDocument/2006/relationships/hyperlink" Target="https://holzundhaus.github.io/wintergartenkoeln/dateien/minimax-81bb54eb519b0f0c4863eb1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pflegen und warten: Aufgaben, Intervalle und Zuständigkeiten im Überblick · Erklärende Präsentation</a:t>
            </a:r>
          </a:p>
        </p:txBody>
      </p:sp>
      <p:sp>
        <p:nvSpPr>
          <p:cNvPr id="3" name="Content Placeholder 2"/>
          <p:cNvSpPr>
            <a:spLocks noGrp="1"/>
          </p:cNvSpPr>
          <p:nvPr>
            <p:ph idx="1"/>
          </p:nvPr>
        </p:nvSpPr>
        <p:spPr/>
        <p:txBody>
          <a:bodyPr/>
          <a:lstStyle/>
          <a:p>
            <a:r>
              <a:t>Überblick: Ein Wintergarten ist ein besonderer Raum: Glas, Profile, Beschattung, Lüftung und Sensorik arbeiten im Alltag zusammen. Damit dauerhaft beschlagsfreie Scheiben, gut funktionierende bewegliche Elemente und intakte Anschlüsse möglich sind, braucht er mehr als gelegentliches Putzen. Der folgende Leitfaden zeigt, welche Aufgaben in einem Wartungsplan sinnvoll sind, woran Verschleiß erkennbar wird und welche Arbeiten bei Fachbetrieben liegen. Herstellerangaben haben dabei immer Vorrang vor allgemeinen Empfehlungen. Wer die Pflege bereits bei der Planung berücksichtigt, kann später den Zustand besser beurteilen und Zuständigkeiten klarer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Woran Sie frühzeitigen Verschleiß erkennen</a:t>
            </a:r>
          </a:p>
        </p:txBody>
      </p:sp>
      <p:sp>
        <p:nvSpPr>
          <p:cNvPr id="3" name="Content Placeholder 2"/>
          <p:cNvSpPr>
            <a:spLocks noGrp="1"/>
          </p:cNvSpPr>
          <p:nvPr>
            <p:ph idx="1"/>
          </p:nvPr>
        </p:nvSpPr>
        <p:spPr/>
        <p:txBody>
          <a:bodyPr/>
          <a:lstStyle/>
          <a:p>
            <a:pPr>
              <a:defRPr sz="1800"/>
            </a:pPr>
            <a:r>
              <a:t>Besonders wichtig sind Dichtungen und Profile, da sie Feuchtigkeit in Anschlussfugen ziehen können. Auf spröde, verformte, gerissene oder verklebte Dichtungen sowie auf Wasserstreifen an den Profilinnenseiten sollten Sie achten. Zunehmende Zugluft und milchige Beläge an Glasrändern können ebenfalls Hinweise auf Feuchteeintritt sein. Eine äußerliche Sichtprüfung und die Reinigung zugänglicher Dichtungen mit einem milden, nicht scheuernden Mittel sind sinnvolle eigene Aufgaben. Dichtungen auszutauschen, Beschläge nachzustellen oder Anschlussfugen fachlich zu beurteilen, gehört in die Hände eines Fachbetriebs. Dabei ist wichtig, dass das Ersatzt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Woran Sie frühzeitigen Verschleiß erkennen</a:t>
            </a:r>
          </a:p>
        </p:txBody>
      </p:sp>
      <p:sp>
        <p:nvSpPr>
          <p:cNvPr id="3" name="Content Placeholder 2"/>
          <p:cNvSpPr>
            <a:spLocks noGrp="1"/>
          </p:cNvSpPr>
          <p:nvPr>
            <p:ph idx="1"/>
          </p:nvPr>
        </p:nvSpPr>
        <p:spPr/>
        <p:txBody>
          <a:bodyPr/>
          <a:lstStyle/>
          <a:p>
            <a:pPr>
              <a:defRPr sz="1800"/>
            </a:pPr>
            <a:r>
              <a:t>eil zum vorhandenen Profilsystem passt.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Beschattung richtig pflegen und regelmäßig testen</a:t>
            </a:r>
          </a:p>
        </p:txBody>
      </p:sp>
      <p:sp>
        <p:nvSpPr>
          <p:cNvPr id="3" name="Content Placeholder 2"/>
          <p:cNvSpPr>
            <a:spLocks noGrp="1"/>
          </p:cNvSpPr>
          <p:nvPr>
            <p:ph idx="1"/>
          </p:nvPr>
        </p:nvSpPr>
        <p:spPr/>
        <p:txBody>
          <a:bodyPr/>
          <a:lstStyle/>
          <a:p>
            <a:pPr>
              <a:defRPr sz="1800"/>
            </a:pPr>
            <a:r>
              <a:t>Außenliegende Markisen, Rollos und Lamellensysteme sind stark der Witterung ausgesetzt. Kontrollieren Sie regelmäßig Tuch, Führungsschienen und Befestigungspunkte. Laub und Insektenrückstände lassen sich mit einem weichen Besen entfernen; aggressive Reinigung kann Beschichtungen beschädigen. Bei innenliegenden Plissees, Rollos oder Jalousien sammeln sich vor allem Staub und Pollen, weshalb neben der Oberflächenreinigung auch die Bedienmechanik auf Leichtgängigkeit geprüft werden sollte. Windfreigaben, Sensoren und Endlagen gehören ebenfalls in die Kontrolle. Eine vorsichtige Probe-Bedienung zeigt, ob die Anlage im freigegebenen Zustand arbeit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Beschattung richtig pflegen und regelmäßig testen</a:t>
            </a:r>
          </a:p>
        </p:txBody>
      </p:sp>
      <p:sp>
        <p:nvSpPr>
          <p:cNvPr id="3" name="Content Placeholder 2"/>
          <p:cNvSpPr>
            <a:spLocks noGrp="1"/>
          </p:cNvSpPr>
          <p:nvPr>
            <p:ph idx="1"/>
          </p:nvPr>
        </p:nvSpPr>
        <p:spPr/>
        <p:txBody>
          <a:bodyPr/>
          <a:lstStyle/>
          <a:p>
            <a:pPr>
              <a:defRPr sz="1800"/>
            </a:pPr>
            <a:r>
              <a:t>et. Auffälligkeiten sollten direkt in einem Wartungsprotokoll festgehalten werden. Ergänzende Hinweise zur Auswahl enthält die Hauptseite, während der passende Beitrag den Wartungsaspekt eigenständig vertieft.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Lüftung und Feuchteschutz im Alltag</a:t>
            </a:r>
          </a:p>
        </p:txBody>
      </p:sp>
      <p:sp>
        <p:nvSpPr>
          <p:cNvPr id="3" name="Content Placeholder 2"/>
          <p:cNvSpPr>
            <a:spLocks noGrp="1"/>
          </p:cNvSpPr>
          <p:nvPr>
            <p:ph idx="1"/>
          </p:nvPr>
        </p:nvSpPr>
        <p:spPr/>
        <p:txBody>
          <a:bodyPr/>
          <a:lstStyle/>
          <a:p>
            <a:pPr>
              <a:defRPr sz="1800"/>
            </a:pPr>
            <a:r>
              <a:t>Beschattung allein kann weder Wärme noch Feuchte zuverlässig abführen. Deshalb sollten Lüftungsklappen, Schiebeelemente und motorische Antriebe regelmäßig auf einen freien Querschnitt geprüft werden, besonders während Pollenzeit und bei Herbstlaub. Bei motorischen Anlagen gehören Endlagen und Notbedienung zur Funktionskontrolle, ohne dabei den Sonnenschutz zu blockieren. Kondensat an Scheibenrändern oder Schwellen kann kurzfristig nach Morgenstunden auftreten. Dauerhafte Feuchtigkeit weist dagegen auf einen unzureichenden Luftwechsel hin. Prüfen Sie deshalb nicht nur, ob sich etwas öffnen lässt, sondern auch, ob die eingestellte Lüftung im 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Lüftung und Feuchteschutz im Alltag</a:t>
            </a:r>
          </a:p>
        </p:txBody>
      </p:sp>
      <p:sp>
        <p:nvSpPr>
          <p:cNvPr id="3" name="Content Placeholder 2"/>
          <p:cNvSpPr>
            <a:spLocks noGrp="1"/>
          </p:cNvSpPr>
          <p:nvPr>
            <p:ph idx="1"/>
          </p:nvPr>
        </p:nvSpPr>
        <p:spPr/>
        <p:txBody>
          <a:bodyPr/>
          <a:lstStyle/>
          <a:p>
            <a:pPr>
              <a:defRPr sz="1800"/>
            </a:pPr>
            <a:r>
              <a:t>ltag wie geplant funktioniert.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Glas und Rahmen schonend reinigen</a:t>
            </a:r>
          </a:p>
        </p:txBody>
      </p:sp>
      <p:sp>
        <p:nvSpPr>
          <p:cNvPr id="3" name="Content Placeholder 2"/>
          <p:cNvSpPr>
            <a:spLocks noGrp="1"/>
          </p:cNvSpPr>
          <p:nvPr>
            <p:ph idx="1"/>
          </p:nvPr>
        </p:nvSpPr>
        <p:spPr/>
        <p:txBody>
          <a:bodyPr/>
          <a:lstStyle/>
          <a:p>
            <a:pPr>
              <a:defRPr sz="1800"/>
            </a:pPr>
            <a:r>
              <a:t>Für Glasflächen ist eine Reinigung mit viel Wasser und wenig Reinigungsmittel geeignet. Scheuernde Schwämme, abrasive Tücher und scharfe Reiniger können Glas und Beschichtungen angreifen. Auch Sonnenschutzglas verliert seine Funktion nicht durch normale Verschmutzung, wohl aber durch beschädigte Oberflächen. Rahmen aus Aluminium oder Kunststoff vertragen andere Mittel als Holz. Deshalb sollten die Pflegehinweise des jeweiligen Herstellers maßgeblich sein, zumal sie auch für Garantiebedingungen Bedeutung haben können. Die Reinigung ergänzt die technische Kontrolle: Sie entfernt Verschmutzungen, ersetzt aber nicht die Prüfung von Dichtungen, 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Glas und Rahmen schonend reinigen</a:t>
            </a:r>
          </a:p>
        </p:txBody>
      </p:sp>
      <p:sp>
        <p:nvSpPr>
          <p:cNvPr id="3" name="Content Placeholder 2"/>
          <p:cNvSpPr>
            <a:spLocks noGrp="1"/>
          </p:cNvSpPr>
          <p:nvPr>
            <p:ph idx="1"/>
          </p:nvPr>
        </p:nvSpPr>
        <p:spPr/>
        <p:txBody>
          <a:bodyPr/>
          <a:lstStyle/>
          <a:p>
            <a:pPr>
              <a:defRPr sz="1800"/>
            </a:pPr>
            <a:r>
              <a:t>rglasung, Beschattung und Lüftung.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Wartungsplan mit klaren Zuständigkeiten</a:t>
            </a:r>
          </a:p>
        </p:txBody>
      </p:sp>
      <p:sp>
        <p:nvSpPr>
          <p:cNvPr id="3" name="Content Placeholder 2"/>
          <p:cNvSpPr>
            <a:spLocks noGrp="1"/>
          </p:cNvSpPr>
          <p:nvPr>
            <p:ph idx="1"/>
          </p:nvPr>
        </p:nvSpPr>
        <p:spPr/>
        <p:txBody>
          <a:bodyPr/>
          <a:lstStyle/>
          <a:p>
            <a:pPr>
              <a:defRPr sz="1800"/>
            </a:pPr>
            <a:r>
              <a:t>Als grobe Orientierung empfiehlt der Quelle ein monatlicher Blick auf Dichtungen, Lüftungsöffnungen sowie die Funktion von Beschattung und Lüftung. Halbjährlich sind außenliegende Beschattung, Befestigungspunkte und Sensoren insbesondere zu prüfen; jährlich gehört eine Inspektion durch einen Fachbetrieb in den Plan. Nach Sturm, Hagel oder starkem Regen ist eine gezielte Kontrolle sinnvoll. Diese Abstände ersetzen nicht die herstellerspezifischen Intervalle. Als Nutzer sind Sie für Sichtprüfungen, zugängliche Reinigungen, tägliche Bedienung und Dokumentation zuständig. Fachbetriebe übernehmen Inspektionen, Justierungen und den Austausch von 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Wartungsplan mit klaren Zuständigkeiten</a:t>
            </a:r>
          </a:p>
        </p:txBody>
      </p:sp>
      <p:sp>
        <p:nvSpPr>
          <p:cNvPr id="3" name="Content Placeholder 2"/>
          <p:cNvSpPr>
            <a:spLocks noGrp="1"/>
          </p:cNvSpPr>
          <p:nvPr>
            <p:ph idx="1"/>
          </p:nvPr>
        </p:nvSpPr>
        <p:spPr/>
        <p:txBody>
          <a:bodyPr/>
          <a:lstStyle/>
          <a:p>
            <a:pPr>
              <a:defRPr sz="1800"/>
            </a:pPr>
            <a:r>
              <a:t>rschleißteilen, während Haustechnik je nach Auftrag elektrische Komponenten, Sensorik und Steuerung betreut. Ein einfaches Protokoll mit Datum, geprüften Bauteilen, Fotos und offenen Punkten schafft eine belastbare Grundlage für Folgearbeiten.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pflegen und warten: Aufgaben, Intervalle und Zuständigkeiten im Überblick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